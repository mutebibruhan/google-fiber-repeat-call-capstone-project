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8F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60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7094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6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3657600" cy="3657600"/>
          </a:xfrm>
          <a:prstGeom prst="ellipse">
            <a:avLst/>
          </a:prstGeom>
          <a:solidFill>
            <a:srgbClr val="28A745">
              <a:alpha val="18000"/>
            </a:srgbClr>
          </a:solidFill>
          <a:ln w="12700">
            <a:solidFill>
              <a:srgbClr val="1A6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3474720"/>
            <a:ext cx="2743200" cy="2743200"/>
          </a:xfrm>
          <a:prstGeom prst="ellipse">
            <a:avLst/>
          </a:prstGeom>
          <a:solidFill>
            <a:srgbClr val="28A745">
              <a:alpha val="18000"/>
            </a:srgbClr>
          </a:solidFill>
          <a:ln w="12700">
            <a:solidFill>
              <a:srgbClr val="1A6B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Fiber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Call Analysis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7F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Uncovering why customers call back — and what we can do about it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Period: Jan – Mar 2022  |  </a:t>
            </a:r>
            <a:r>
              <a:rPr lang="en-US" sz="1100" dirty="0" err="1">
                <a:solidFill>
                  <a:srgbClr val="90C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Buruhani</a:t>
            </a:r>
            <a:r>
              <a:rPr lang="en-US" sz="1100" dirty="0">
                <a:solidFill>
                  <a:srgbClr val="90C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Mutebi –Data Analyst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6B2E"/>
          </a:solidFill>
          <a:ln w="12700">
            <a:solidFill>
              <a:srgbClr val="1A6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011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43000"/>
            <a:ext cx="2011680" cy="91440"/>
          </a:xfrm>
          <a:prstGeom prst="rect">
            <a:avLst/>
          </a:prstGeom>
          <a:solidFill>
            <a:srgbClr val="1A6B2E"/>
          </a:solidFill>
          <a:ln w="12700">
            <a:solidFill>
              <a:srgbClr val="1A6B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4173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A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65K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20040" y="2103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Contacts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3957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– Mar 2022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14600" y="1143000"/>
            <a:ext cx="2011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143000"/>
            <a:ext cx="2011680" cy="91440"/>
          </a:xfrm>
          <a:prstGeom prst="rect">
            <a:avLst/>
          </a:prstGeom>
          <a:solidFill>
            <a:srgbClr val="C8382A"/>
          </a:solidFill>
          <a:ln w="12700">
            <a:solidFill>
              <a:srgbClr val="C838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14173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83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20K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514600" y="2103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Repeat Calls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14600" y="23957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callbacks recorded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143000"/>
            <a:ext cx="2011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143000"/>
            <a:ext cx="2011680" cy="914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14173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709160" y="2103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Rate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23957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contacts called back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903720" y="1143000"/>
            <a:ext cx="2011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03720" y="1143000"/>
            <a:ext cx="2011680" cy="9144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3720" y="14173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14.99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903720" y="2103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Repeat Calls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03720" y="23957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caller segment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2971800"/>
            <a:ext cx="8503920" cy="1645920"/>
          </a:xfrm>
          <a:prstGeom prst="rect">
            <a:avLst/>
          </a:prstGeom>
          <a:solidFill>
            <a:srgbClr val="E8F5E9"/>
          </a:solidFill>
          <a:ln w="12700">
            <a:solidFill>
              <a:srgbClr val="BBDFC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090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33832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every 100 customer contacts, approximately 31 result in at least one repeat call — indicating that nearly one-third of customer issues are not resolved on first contact. This points to a significant opportunity to improve first-call resolution (FCR) through agent training, better knowledge bases, and issue-type-specific escalation paths.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6B2E"/>
          </a:solidFill>
          <a:ln w="12700">
            <a:solidFill>
              <a:srgbClr val="1A6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Calls by Market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943600" y="1143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Breakdown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943600" y="1600200"/>
            <a:ext cx="29260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43600" y="1600200"/>
            <a:ext cx="73152" cy="822960"/>
          </a:xfrm>
          <a:prstGeom prst="rect">
            <a:avLst/>
          </a:prstGeom>
          <a:solidFill>
            <a:srgbClr val="1A6B2E"/>
          </a:solidFill>
          <a:ln w="12700">
            <a:solidFill>
              <a:srgbClr val="1A6B2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80760" y="16642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market_1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080760" y="19659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12,647 calls  (62.5%)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943600" y="2560320"/>
            <a:ext cx="29260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43600" y="2560320"/>
            <a:ext cx="73152" cy="82296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80760" y="26243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market_3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080760" y="29260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6,806 calls  (33.6%)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943600" y="3520440"/>
            <a:ext cx="29260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943600" y="3520440"/>
            <a:ext cx="73152" cy="822960"/>
          </a:xfrm>
          <a:prstGeom prst="rect">
            <a:avLst/>
          </a:prstGeom>
          <a:solidFill>
            <a:srgbClr val="82CB8E"/>
          </a:solidFill>
          <a:ln w="12700">
            <a:solidFill>
              <a:srgbClr val="82CB8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80760" y="35844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market_2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080760" y="38862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2C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787 calls  (3.9%)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943600" y="45720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market_1 accounts for 62.5% of all repeat calls — the highest-priority market for FCR improvement.</a:t>
            </a:r>
            <a:endParaRPr lang="en-US" sz="9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50709CC-9989-F785-2091-263AFF0352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330" y="1321358"/>
            <a:ext cx="5531134" cy="30747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6B2E"/>
          </a:solidFill>
          <a:ln w="12700">
            <a:solidFill>
              <a:srgbClr val="1A6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Calls by Issue Type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754880" y="1143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Type Detail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754880" y="1554480"/>
            <a:ext cx="4114800" cy="585216"/>
          </a:xfrm>
          <a:prstGeom prst="rect">
            <a:avLst/>
          </a:prstGeom>
          <a:solidFill>
            <a:srgbClr val="E8F5E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892040" y="16184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type_5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806440" y="16184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10,253  |  50.7%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892040" y="18562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volume — dominant issue category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754880" y="2231136"/>
            <a:ext cx="41148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92040" y="229514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type_2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806440" y="22951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5,987  |  29.6%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892040" y="25328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largest — likely a systemic issue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754880" y="2907792"/>
            <a:ext cx="4114800" cy="585216"/>
          </a:xfrm>
          <a:prstGeom prst="rect">
            <a:avLst/>
          </a:prstGeom>
          <a:solidFill>
            <a:srgbClr val="E8F5E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92040" y="2971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type_1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806440" y="2971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2,400  |  11.9%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892040" y="320954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volume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754880" y="3584448"/>
            <a:ext cx="41148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92040" y="364845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type_3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806440" y="364845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1,469  |  7.3%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892040" y="38862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volume but worth monitoring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754880" y="4261104"/>
            <a:ext cx="4114800" cy="585216"/>
          </a:xfrm>
          <a:prstGeom prst="rect">
            <a:avLst/>
          </a:prstGeom>
          <a:solidFill>
            <a:srgbClr val="E8F5E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92040" y="432511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type_4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806440" y="43251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  |  0.6%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892040" y="456285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— least critical</a:t>
            </a:r>
            <a:endParaRPr lang="en-US" sz="9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AFB1E9E-5535-0271-B0BA-390E476EC0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96" y="1618488"/>
            <a:ext cx="4276288" cy="21546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6B2E"/>
          </a:solidFill>
          <a:ln w="12700">
            <a:solidFill>
              <a:srgbClr val="1A6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Call Frequency: Market × Issue Type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188720"/>
          <a:ext cx="2971800" cy="2944368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Mkt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Mkt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Mkt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type_5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5,969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3,888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6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10,253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type_2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6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5,987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type_1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1,498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type_3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type_4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12,647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6,806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83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20,240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035040" y="44348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type_5 × market_1 is the single largest problem combination with 5,969 calls — a clear priority for targeted resolution improvements.</a:t>
            </a:r>
            <a:endParaRPr lang="en-US" sz="9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E3FAE5-6CC4-32C1-3742-DF20DC9382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289" y="1758908"/>
            <a:ext cx="4610337" cy="16256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6B2E"/>
          </a:solidFill>
          <a:ln w="12700">
            <a:solidFill>
              <a:srgbClr val="1A6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Call Trends — Jan to Mar 2022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126480" y="1188720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126480" y="1188720"/>
            <a:ext cx="2743200" cy="73152"/>
          </a:xfrm>
          <a:prstGeom prst="rect">
            <a:avLst/>
          </a:prstGeom>
          <a:solidFill>
            <a:srgbClr val="C8382A"/>
          </a:solidFill>
          <a:ln w="12700">
            <a:solidFill>
              <a:srgbClr val="C8382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63640" y="12984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Upward Trend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263640" y="159105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markets show a gradual increase in repeat calls from January to March 2022.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126480" y="2423160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126480" y="2423160"/>
            <a:ext cx="2743200" cy="73152"/>
          </a:xfrm>
          <a:prstGeom prst="rect">
            <a:avLst/>
          </a:prstGeom>
          <a:solidFill>
            <a:srgbClr val="1A6B2E"/>
          </a:solidFill>
          <a:ln w="12700">
            <a:solidFill>
              <a:srgbClr val="1A6B2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63640" y="25328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market_1 Dominates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263640" y="282549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market_1 consistently drives the highest volume, hovering around 4,100–4,350 calls/month.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126480" y="3657600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126480" y="3657600"/>
            <a:ext cx="2743200" cy="73152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63640" y="37673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market_2 Stable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263640" y="405993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market_2 remains very low across all months, suggesting stronger first-call resolution.</a:t>
            </a:r>
            <a:endParaRPr lang="en-US" sz="9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65692BE-2D1B-3982-485E-661D29359F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849" y="1865376"/>
            <a:ext cx="4781796" cy="17336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6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572000" cy="4572000"/>
          </a:xfrm>
          <a:prstGeom prst="ellipse">
            <a:avLst/>
          </a:prstGeom>
          <a:solidFill>
            <a:srgbClr val="28A745">
              <a:alpha val="15000"/>
            </a:srgbClr>
          </a:solidFill>
          <a:ln w="12700">
            <a:solidFill>
              <a:srgbClr val="1A6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Next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4114800" cy="1554480"/>
          </a:xfrm>
          <a:prstGeom prst="rect">
            <a:avLst/>
          </a:prstGeom>
          <a:solidFill>
            <a:srgbClr val="0D4A1F">
              <a:alpha val="70000"/>
            </a:srgbClr>
          </a:solidFill>
          <a:ln w="12700">
            <a:solidFill>
              <a:srgbClr val="34A853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89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4128" y="1417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type_5 &amp; type_2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4128" y="1755648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E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categories account for 80% of repeat calls. Conduct root-cause analysis and build targeted knowledge-base articles and agent scripts for these issue types.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3017520"/>
            <a:ext cx="4114800" cy="1554480"/>
          </a:xfrm>
          <a:prstGeom prst="rect">
            <a:avLst/>
          </a:prstGeom>
          <a:solidFill>
            <a:srgbClr val="0D4A1F">
              <a:alpha val="70000"/>
            </a:srgbClr>
          </a:solidFill>
          <a:ln w="12700">
            <a:solidFill>
              <a:srgbClr val="34A853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127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24128" y="3154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market_1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24128" y="3493008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E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62.5% of all repeat calls, market_1 needs dedicated FCR improvement initiatives — coaching sessions, escalation reviews, and quality audits.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00600" y="1280160"/>
            <a:ext cx="4114800" cy="1554480"/>
          </a:xfrm>
          <a:prstGeom prst="rect">
            <a:avLst/>
          </a:prstGeom>
          <a:solidFill>
            <a:srgbClr val="0D4A1F">
              <a:alpha val="70000"/>
            </a:srgbClr>
          </a:solidFill>
          <a:ln w="12700">
            <a:solidFill>
              <a:srgbClr val="34A853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389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58968" y="1417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market_2 Best Practices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58968" y="1755648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E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market_2's low repeat rate (3.9%) suggests effective resolution practices. Identify and replicate those practices in market_1 and market_3.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00600" y="3017520"/>
            <a:ext cx="4114800" cy="1554480"/>
          </a:xfrm>
          <a:prstGeom prst="rect">
            <a:avLst/>
          </a:prstGeom>
          <a:solidFill>
            <a:srgbClr val="0D4A1F">
              <a:alpha val="70000"/>
            </a:srgbClr>
          </a:solidFill>
          <a:ln w="12700">
            <a:solidFill>
              <a:srgbClr val="34A853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3127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58968" y="3154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Week-over-Week Trends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58968" y="3493008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E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real-time dashboards segmented by week and quarter to detect spikes early and measure the impact of improvement initiatives.</a:t>
            </a:r>
            <a:endParaRPr lang="en-US" sz="95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099903-A40B-5F6F-2BD9-4721A29FF870}"/>
              </a:ext>
            </a:extLst>
          </p:cNvPr>
          <p:cNvSpPr/>
          <p:nvPr/>
        </p:nvSpPr>
        <p:spPr>
          <a:xfrm>
            <a:off x="502920" y="4762919"/>
            <a:ext cx="8412480" cy="380581"/>
          </a:xfrm>
          <a:prstGeom prst="rect">
            <a:avLst/>
          </a:prstGeom>
          <a:solidFill>
            <a:srgbClr val="038F5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Thank you!      By </a:t>
            </a:r>
            <a:r>
              <a:rPr lang="en-US" dirty="0" err="1">
                <a:solidFill>
                  <a:schemeClr val="bg1"/>
                </a:solidFill>
              </a:rPr>
              <a:t>Buruhani</a:t>
            </a:r>
            <a:r>
              <a:rPr lang="en-US" dirty="0">
                <a:solidFill>
                  <a:schemeClr val="bg1"/>
                </a:solidFill>
              </a:rPr>
              <a:t> Mutebi-Data Analyst</a:t>
            </a:r>
            <a:endParaRPr lang="en-AE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530</Words>
  <Application>Microsoft Office PowerPoint</Application>
  <PresentationFormat>On-screen Show (16:9)</PresentationFormat>
  <Paragraphs>111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Google Fiber – Customer Support Repeat Call Analysis</dc:title>
  <dc:subject>PptxGenJS Presentation</dc:subject>
  <dc:creator>PptxGenJS</dc:creator>
  <cp:lastModifiedBy>Aarham .</cp:lastModifiedBy>
  <cp:revision>2</cp:revision>
  <dcterms:created xsi:type="dcterms:W3CDTF">2026-05-25T18:37:01Z</dcterms:created>
  <dcterms:modified xsi:type="dcterms:W3CDTF">2026-05-25T18:56:43Z</dcterms:modified>
</cp:coreProperties>
</file>